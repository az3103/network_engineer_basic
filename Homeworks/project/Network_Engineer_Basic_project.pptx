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263" r:id="rId22"/>
    <p:sldId id="264" r:id="rId23"/>
    <p:sldId id="265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Medium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CE42F4-68CF-497D-BE74-4D2CB4DE5E68}">
  <a:tblStyle styleId="{E0CE42F4-68CF-497D-BE74-4D2CB4DE5E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5" d="100"/>
          <a:sy n="195" d="100"/>
        </p:scale>
        <p:origin x="804" y="15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{E0CE42F4-68CF-497D-BE74-4D2CB4DE5E68}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{E0CE42F4-68CF-497D-BE74-4D2CB4DE5E68}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сети юридического лица и подключение её к сетям провайдера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39423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49" y="4127375"/>
            <a:ext cx="3421899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Engineer Basic </a:t>
            </a: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/>
              <a:t>Организация сети юридического лица.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/>
          <a:srcRect t="13005" b="1300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Петров Артем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Инсталлятор сетей и оконечного обор</a:t>
            </a: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удования провайдера.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066551387"/>
              </p:ext>
            </p:extLst>
          </p:nvPr>
        </p:nvGraphicFramePr>
        <p:xfrm>
          <a:off x="952500" y="2382125"/>
          <a:ext cx="7239000" cy="2150722"/>
        </p:xfrm>
        <a:graphic>
          <a:graphicData uri="http://schemas.openxmlformats.org/drawingml/2006/table">
            <a:tbl>
              <a:tblPr>
                <a:noFill/>
                <a:tableStyleId>{E0CE42F4-68CF-497D-BE74-4D2CB4DE5E68}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Построение сети согласно топологии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Разбитие на подсети и организация соответствующей адресации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Отработка технологий, пройденных в течении курса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Закрепление пройденного материала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Организация подключения юридического лица к сетям провайдера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7621474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    </a:t>
            </a: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7976C1-8C74-4B5B-694B-79E582557B09}"/>
              </a:ext>
            </a:extLst>
          </p:cNvPr>
          <p:cNvSpPr/>
          <p:nvPr/>
        </p:nvSpPr>
        <p:spPr>
          <a:xfrm>
            <a:off x="1471841" y="1056206"/>
            <a:ext cx="2332454" cy="3398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SSH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VLAN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STP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LACP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DHCP</a:t>
            </a:r>
          </a:p>
          <a:p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8CBF8F-1A69-4C70-37B9-D5FD212E963D}"/>
              </a:ext>
            </a:extLst>
          </p:cNvPr>
          <p:cNvSpPr/>
          <p:nvPr/>
        </p:nvSpPr>
        <p:spPr>
          <a:xfrm>
            <a:off x="4347068" y="1056206"/>
            <a:ext cx="2391132" cy="3422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Port Security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OSPF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ACL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NTP</a:t>
            </a:r>
          </a:p>
          <a:p>
            <a:pPr algn="ctr"/>
            <a:endParaRPr lang="ru-RU" dirty="0">
              <a:ln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957A9-BFCD-9724-B470-5654DEFF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Топология сети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972079-9FAD-1CBE-BE43-E2E0ADEE4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19773" y="1021976"/>
            <a:ext cx="6092740" cy="395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18505-9B35-9677-2BBB-24B6D2A1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82E28-1A6F-9EAE-B50B-CA5C8B4E1D82}"/>
              </a:ext>
            </a:extLst>
          </p:cNvPr>
          <p:cNvSpPr txBox="1"/>
          <p:nvPr/>
        </p:nvSpPr>
        <p:spPr>
          <a:xfrm>
            <a:off x="611230" y="973079"/>
            <a:ext cx="78579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192.168.0.0   255.255.255.192  - подсеть для подключения коммутаторов доступа и оконечных устройств отдела продаж (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SALES).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192.168.0.64   255.255.255.192  - подсеть для подключения коммутаторов доступа и оконечных устройств отдела менеджмента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(MANAGEMENT).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192.168.0.128   255.255.255.224 - подсеть для подключения внутренних серверов и хостов управления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(SERVERS).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192.168.0.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160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255.255.255.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240 </a:t>
            </a:r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 192.168.0.176   255.255.255.240 - подсети для подключения коммутаторов уровня распределения и маршрутизаторов для доступа к сетям провайдера.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67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89F0B-B95B-FE7D-ECB3-48BA275D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B10C4B-4857-4BDD-8FDC-00E3A484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92" y="933960"/>
            <a:ext cx="4089892" cy="40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306E22-0903-8E92-35FD-C50765788FF5}"/>
              </a:ext>
            </a:extLst>
          </p:cNvPr>
          <p:cNvSpPr txBox="1"/>
          <p:nvPr/>
        </p:nvSpPr>
        <p:spPr>
          <a:xfrm>
            <a:off x="4669797" y="933960"/>
            <a:ext cx="412901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r>
              <a:rPr lang="ru-RU" dirty="0"/>
              <a:t>На фото мы получаем доступ к коммутатору распределения с хоста группы менеджмента. 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Отметим, что для доступа необходимо знать учетные данные – логин и пароль от заранее созданной учетной записи.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В нашей сети используется актуальная версия – </a:t>
            </a:r>
            <a:r>
              <a:rPr lang="en-US" dirty="0"/>
              <a:t>SHHv2. </a:t>
            </a:r>
            <a:r>
              <a:rPr lang="ru-RU" dirty="0"/>
              <a:t>Размер ключей </a:t>
            </a:r>
            <a:r>
              <a:rPr lang="en-US" dirty="0"/>
              <a:t>RSA – </a:t>
            </a:r>
            <a:r>
              <a:rPr lang="ru-RU" dirty="0"/>
              <a:t>2048 бит.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Протокол очень полезен для мониторинга и управления с любого удобного хоста.</a:t>
            </a:r>
          </a:p>
        </p:txBody>
      </p:sp>
    </p:spTree>
    <p:extLst>
      <p:ext uri="{BB962C8B-B14F-4D97-AF65-F5344CB8AC3E}">
        <p14:creationId xmlns:p14="http://schemas.microsoft.com/office/powerpoint/2010/main" val="366357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AF735-2D19-A6EB-1FC8-06F0B55A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089B2AC-CF88-B798-515D-8360CBF53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286236"/>
              </p:ext>
            </p:extLst>
          </p:nvPr>
        </p:nvGraphicFramePr>
        <p:xfrm>
          <a:off x="500550" y="970056"/>
          <a:ext cx="5709546" cy="2667000"/>
        </p:xfrm>
        <a:graphic>
          <a:graphicData uri="http://schemas.openxmlformats.org/drawingml/2006/table">
            <a:tbl>
              <a:tblPr firstRow="1" bandRow="1">
                <a:tableStyleId>{E0CE42F4-68CF-497D-BE74-4D2CB4DE5E68}</a:tableStyleId>
              </a:tblPr>
              <a:tblGrid>
                <a:gridCol w="1178548">
                  <a:extLst>
                    <a:ext uri="{9D8B030D-6E8A-4147-A177-3AD203B41FA5}">
                      <a16:colId xmlns:a16="http://schemas.microsoft.com/office/drawing/2014/main" val="3097591319"/>
                    </a:ext>
                  </a:extLst>
                </a:gridCol>
                <a:gridCol w="1378534">
                  <a:extLst>
                    <a:ext uri="{9D8B030D-6E8A-4147-A177-3AD203B41FA5}">
                      <a16:colId xmlns:a16="http://schemas.microsoft.com/office/drawing/2014/main" val="3589304981"/>
                    </a:ext>
                  </a:extLst>
                </a:gridCol>
                <a:gridCol w="3152464">
                  <a:extLst>
                    <a:ext uri="{9D8B030D-6E8A-4147-A177-3AD203B41FA5}">
                      <a16:colId xmlns:a16="http://schemas.microsoft.com/office/drawing/2014/main" val="3712519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АДРЕС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НАЗНАЧЕНИЕ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837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192.168.0.2</a:t>
                      </a:r>
                    </a:p>
                    <a:p>
                      <a:r>
                        <a:rPr lang="en-US" dirty="0"/>
                        <a:t>192.168.0.3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Продажи(</a:t>
                      </a:r>
                      <a:r>
                        <a:rPr lang="en-US" dirty="0"/>
                        <a:t>SALES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27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200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192.168.0.66</a:t>
                      </a:r>
                    </a:p>
                    <a:p>
                      <a:r>
                        <a:rPr lang="en-US" dirty="0"/>
                        <a:t>192.168.0.67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Менеджмент (</a:t>
                      </a:r>
                      <a:r>
                        <a:rPr lang="en-US" dirty="0"/>
                        <a:t>MANAGEMENT)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858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300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192.168.0.130</a:t>
                      </a:r>
                    </a:p>
                    <a:p>
                      <a:r>
                        <a:rPr lang="en-US" dirty="0"/>
                        <a:t>192.168.0.131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Серверы </a:t>
                      </a:r>
                      <a:r>
                        <a:rPr lang="en-US" dirty="0"/>
                        <a:t>(SERVERS)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75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999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Неиспользуемые порты (</a:t>
                      </a:r>
                      <a:r>
                        <a:rPr lang="en-US" dirty="0"/>
                        <a:t>EMPTY)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1000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Vlan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по умолчанию </a:t>
                      </a:r>
                      <a:r>
                        <a:rPr lang="en-US" dirty="0"/>
                        <a:t>(NATIVE)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165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9C543D-F125-43A5-06FE-24D0BA1F2144}"/>
              </a:ext>
            </a:extLst>
          </p:cNvPr>
          <p:cNvSpPr txBox="1"/>
          <p:nvPr/>
        </p:nvSpPr>
        <p:spPr>
          <a:xfrm>
            <a:off x="500550" y="3701610"/>
            <a:ext cx="8095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r>
              <a:rPr lang="ru-RU" dirty="0"/>
              <a:t>Адреса рабочих </a:t>
            </a:r>
            <a:r>
              <a:rPr lang="ru-RU" dirty="0" err="1"/>
              <a:t>виланов</a:t>
            </a:r>
            <a:r>
              <a:rPr lang="ru-RU" dirty="0"/>
              <a:t> указаны с коммутаторов распределения. Для взаимодействия с маршрутизатором использовалась команда </a:t>
            </a:r>
            <a:r>
              <a:rPr lang="en-US" dirty="0"/>
              <a:t>no switchport </a:t>
            </a:r>
            <a:r>
              <a:rPr lang="ru-RU" dirty="0"/>
              <a:t>и </a:t>
            </a:r>
            <a:r>
              <a:rPr lang="en-US" dirty="0"/>
              <a:t>IP-</a:t>
            </a:r>
            <a:r>
              <a:rPr lang="ru-RU" dirty="0"/>
              <a:t>адреса физических портов. </a:t>
            </a:r>
          </a:p>
          <a:p>
            <a:endParaRPr lang="ru-RU" dirty="0"/>
          </a:p>
          <a:p>
            <a:r>
              <a:rPr lang="ru-RU" dirty="0"/>
              <a:t>С помощью </a:t>
            </a:r>
            <a:r>
              <a:rPr lang="ru-RU" dirty="0" err="1"/>
              <a:t>межвлановой</a:t>
            </a:r>
            <a:r>
              <a:rPr lang="ru-RU" dirty="0"/>
              <a:t> маршрутизации наши подсети могут обмениваться данными, сохраняя повышенную безопасность и производительность.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238794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6E2E4-46DF-A79D-F995-53509657E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AC3FB1-9E8C-F18A-D1C5-A49E8F76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0" y="878674"/>
            <a:ext cx="4168150" cy="39867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3EF75-31ED-28AB-53A1-D3569081B58C}"/>
              </a:ext>
            </a:extLst>
          </p:cNvPr>
          <p:cNvSpPr txBox="1"/>
          <p:nvPr/>
        </p:nvSpPr>
        <p:spPr>
          <a:xfrm>
            <a:off x="4777373" y="878674"/>
            <a:ext cx="39265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Spanning Tree Protocol </a:t>
            </a:r>
            <a:r>
              <a:rPr lang="ru-RU" dirty="0"/>
              <a:t>избавляет нашу сеть от физических петель и обеспечивает резервирование.</a:t>
            </a:r>
          </a:p>
          <a:p>
            <a:endParaRPr lang="ru-RU" dirty="0"/>
          </a:p>
          <a:p>
            <a:r>
              <a:rPr lang="ru-RU" dirty="0"/>
              <a:t>Все коммутаторы на всех уровнях переведены в режим </a:t>
            </a:r>
            <a:r>
              <a:rPr lang="en-US" dirty="0"/>
              <a:t>rapid-</a:t>
            </a:r>
            <a:r>
              <a:rPr lang="en-US" dirty="0" err="1"/>
              <a:t>pvst</a:t>
            </a:r>
            <a:r>
              <a:rPr lang="en-US" dirty="0"/>
              <a:t> </a:t>
            </a:r>
            <a:r>
              <a:rPr lang="ru-RU" dirty="0"/>
              <a:t>для ускорения сходимости сети.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314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FEF72-CA37-E0CE-F676-505E5A10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2E8D60-F864-17BB-4F98-12148FBE3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59" y="1040204"/>
            <a:ext cx="5251689" cy="1336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322D6-646A-A560-8EFD-EB11292CF70E}"/>
              </a:ext>
            </a:extLst>
          </p:cNvPr>
          <p:cNvSpPr txBox="1"/>
          <p:nvPr/>
        </p:nvSpPr>
        <p:spPr>
          <a:xfrm>
            <a:off x="500550" y="2635624"/>
            <a:ext cx="79344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r>
              <a:rPr lang="ru-RU" dirty="0"/>
              <a:t>Между коммутаторами третьего уровня организована транковая магистраль для обмена данными большего объема и на более высокой скорости.</a:t>
            </a:r>
          </a:p>
          <a:p>
            <a:endParaRPr lang="ru-RU" dirty="0"/>
          </a:p>
          <a:p>
            <a:r>
              <a:rPr lang="ru-RU" dirty="0"/>
              <a:t>Агрегированием линков достигнута отказоустойчивость соединения </a:t>
            </a:r>
            <a:r>
              <a:rPr lang="en-US" dirty="0"/>
              <a:t>L3-</a:t>
            </a:r>
            <a:r>
              <a:rPr lang="ru-RU" dirty="0"/>
              <a:t>коммутаторов. Это наиболее важное соединение в нашей сети.</a:t>
            </a:r>
          </a:p>
        </p:txBody>
      </p:sp>
    </p:spTree>
    <p:extLst>
      <p:ext uri="{BB962C8B-B14F-4D97-AF65-F5344CB8AC3E}">
        <p14:creationId xmlns:p14="http://schemas.microsoft.com/office/powerpoint/2010/main" val="193519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6C9C5-345F-01AC-E396-72B23D6F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F9A0F6-8102-45F9-2424-913F4889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14398"/>
            <a:ext cx="3873063" cy="3784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3D48B-2A85-C71E-F521-0A4DCA33CCFA}"/>
              </a:ext>
            </a:extLst>
          </p:cNvPr>
          <p:cNvSpPr txBox="1"/>
          <p:nvPr/>
        </p:nvSpPr>
        <p:spPr>
          <a:xfrm>
            <a:off x="4606230" y="914399"/>
            <a:ext cx="40372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r>
              <a:rPr lang="ru-RU" dirty="0"/>
              <a:t>В нашей сети развернут </a:t>
            </a:r>
            <a:r>
              <a:rPr lang="en-US" dirty="0"/>
              <a:t>DHCP-</a:t>
            </a:r>
            <a:r>
              <a:rPr lang="ru-RU" dirty="0"/>
              <a:t>сервер, который автоматически раздает адреса новым устройствам в подсетях, согласно заранее прописанных пулов адресов.</a:t>
            </a:r>
          </a:p>
          <a:p>
            <a:endParaRPr lang="ru-RU" dirty="0"/>
          </a:p>
          <a:p>
            <a:r>
              <a:rPr lang="ru-RU" dirty="0"/>
              <a:t>Часть адресов зарезервирована под статику. На фото мы видим как трем новым устройствам из разных подсетей выданы корректные </a:t>
            </a:r>
            <a:r>
              <a:rPr lang="en-US" dirty="0"/>
              <a:t>IP-</a:t>
            </a:r>
            <a:r>
              <a:rPr lang="ru-RU" dirty="0"/>
              <a:t>адреса.</a:t>
            </a:r>
          </a:p>
          <a:p>
            <a:endParaRPr lang="ru-RU" dirty="0"/>
          </a:p>
          <a:p>
            <a:r>
              <a:rPr lang="en-US" dirty="0"/>
              <a:t>DHCP </a:t>
            </a:r>
            <a:r>
              <a:rPr lang="ru-RU" dirty="0"/>
              <a:t>автоматизирует получение </a:t>
            </a:r>
            <a:r>
              <a:rPr lang="en-US" dirty="0"/>
              <a:t>IP-</a:t>
            </a:r>
            <a:r>
              <a:rPr lang="ru-RU" dirty="0"/>
              <a:t>адреса и некоторых других сетевых настроек. Получаем хорошую экономию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230614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239AE-60CD-298B-8A25-61F1C843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Port-Security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13C15A-B903-0BBA-44C4-FE0218DA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68187"/>
            <a:ext cx="3911872" cy="39454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2BB48-D3CD-E2C9-BF73-3F43E3EB8AFA}"/>
              </a:ext>
            </a:extLst>
          </p:cNvPr>
          <p:cNvSpPr txBox="1"/>
          <p:nvPr/>
        </p:nvSpPr>
        <p:spPr>
          <a:xfrm>
            <a:off x="4731580" y="968187"/>
            <a:ext cx="39967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r>
              <a:rPr lang="ru-RU" dirty="0"/>
              <a:t>На всех коммутаторах организована защита портов. Прежде всего – неиспользованные порты отключены.</a:t>
            </a:r>
          </a:p>
          <a:p>
            <a:endParaRPr lang="ru-RU" dirty="0"/>
          </a:p>
          <a:p>
            <a:r>
              <a:rPr lang="ru-RU" dirty="0"/>
              <a:t>Включенные порты запоминают мак-адрес подключенного устройства.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Дополнительно настроен </a:t>
            </a:r>
            <a:r>
              <a:rPr lang="en-US" dirty="0" err="1"/>
              <a:t>portfast</a:t>
            </a:r>
            <a:r>
              <a:rPr lang="en-US" dirty="0"/>
              <a:t> </a:t>
            </a:r>
            <a:r>
              <a:rPr lang="ru-RU" dirty="0"/>
              <a:t>на портах доступа для уменьшения задержки </a:t>
            </a:r>
            <a:r>
              <a:rPr lang="en-US" dirty="0"/>
              <a:t>STP.</a:t>
            </a:r>
            <a:endParaRPr lang="ru-RU" dirty="0"/>
          </a:p>
          <a:p>
            <a:endParaRPr lang="ru-RU" dirty="0"/>
          </a:p>
          <a:p>
            <a:r>
              <a:rPr lang="ru-RU" dirty="0"/>
              <a:t>Так же настроен </a:t>
            </a:r>
            <a:r>
              <a:rPr lang="en-US" dirty="0" err="1"/>
              <a:t>BPDUguard</a:t>
            </a:r>
            <a:r>
              <a:rPr lang="en-US" dirty="0"/>
              <a:t> </a:t>
            </a:r>
            <a:r>
              <a:rPr lang="ru-RU" dirty="0"/>
              <a:t>во избежание подключения несанкционированных коммутаторов.</a:t>
            </a:r>
          </a:p>
        </p:txBody>
      </p:sp>
    </p:spTree>
    <p:extLst>
      <p:ext uri="{BB962C8B-B14F-4D97-AF65-F5344CB8AC3E}">
        <p14:creationId xmlns:p14="http://schemas.microsoft.com/office/powerpoint/2010/main" val="284766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3F0C7-B27F-EB3A-1F81-D5A6D812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OSPF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7E3A57-F078-9287-A3BD-9DFDB7DA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6" y="878674"/>
            <a:ext cx="4197657" cy="4025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F63B06-F695-EAC6-9288-15206E8436C1}"/>
              </a:ext>
            </a:extLst>
          </p:cNvPr>
          <p:cNvSpPr txBox="1"/>
          <p:nvPr/>
        </p:nvSpPr>
        <p:spPr>
          <a:xfrm>
            <a:off x="4698207" y="878674"/>
            <a:ext cx="41976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Протокол </a:t>
            </a:r>
            <a:r>
              <a:rPr lang="en-US" dirty="0"/>
              <a:t>OSPF </a:t>
            </a:r>
            <a:r>
              <a:rPr lang="ru-RU" dirty="0"/>
              <a:t>организован в нашей сети между маршрутизатором к провайдеру (соединение посредством </a:t>
            </a:r>
            <a:r>
              <a:rPr lang="en-US" dirty="0"/>
              <a:t>Loopback)</a:t>
            </a:r>
            <a:r>
              <a:rPr lang="ru-RU" dirty="0"/>
              <a:t> и коммутаторами распределения.</a:t>
            </a:r>
          </a:p>
          <a:p>
            <a:endParaRPr lang="ru-RU" dirty="0"/>
          </a:p>
          <a:p>
            <a:r>
              <a:rPr lang="ru-RU" dirty="0"/>
              <a:t>С помощью </a:t>
            </a:r>
            <a:r>
              <a:rPr lang="en-US" dirty="0"/>
              <a:t>OSPF </a:t>
            </a:r>
            <a:r>
              <a:rPr lang="ru-RU" dirty="0"/>
              <a:t>устройства обмениваются информацией о доступных маршрутах и выбирается наиболее эффективный.</a:t>
            </a:r>
          </a:p>
          <a:p>
            <a:endParaRPr lang="ru-RU" dirty="0"/>
          </a:p>
          <a:p>
            <a:r>
              <a:rPr lang="ru-RU" dirty="0"/>
              <a:t>Так же обеспечивается отказоустойчивость, так как при обрыве сети мгновенно пересчитывается и перестраивается.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1628198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D5EE6-E87A-FF8B-8132-6FD7A2F0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9936C0-DE6F-16B7-C789-0B923BC6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36" y="878674"/>
            <a:ext cx="3897707" cy="4160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2BB04B-7440-EE7E-406A-5F2399022920}"/>
              </a:ext>
            </a:extLst>
          </p:cNvPr>
          <p:cNvSpPr txBox="1"/>
          <p:nvPr/>
        </p:nvSpPr>
        <p:spPr>
          <a:xfrm>
            <a:off x="4398257" y="878674"/>
            <a:ext cx="447730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r>
              <a:rPr lang="ru-RU" dirty="0"/>
              <a:t>Списки контроля доступа фильтруют трафик. Это крайне многофункциональный инструмент.</a:t>
            </a:r>
          </a:p>
          <a:p>
            <a:endParaRPr lang="ru-RU" dirty="0"/>
          </a:p>
          <a:p>
            <a:r>
              <a:rPr lang="ru-RU" dirty="0"/>
              <a:t>В нашей сети запрещен трафик между сетями продаж и менеджмента. Однако он разрешен в другие подсети и интернет.</a:t>
            </a:r>
          </a:p>
          <a:p>
            <a:endParaRPr lang="ru-RU" dirty="0"/>
          </a:p>
          <a:p>
            <a:r>
              <a:rPr lang="ru-RU" dirty="0"/>
              <a:t>На фото мы видим, что хост из группы менеджмента не может взаимодействовать с группой продаж (192.168.0.67). В то же время взаимодействие удается с группой внутренних серверов (192.168.0.140) и с выходом в интернет (10.30.0.1).</a:t>
            </a:r>
            <a:endParaRPr lang="en-US" dirty="0"/>
          </a:p>
          <a:p>
            <a:endParaRPr lang="en-US" dirty="0"/>
          </a:p>
          <a:p>
            <a:r>
              <a:rPr lang="ru-RU" dirty="0"/>
              <a:t>С помощью </a:t>
            </a:r>
            <a:r>
              <a:rPr lang="en-US" dirty="0"/>
              <a:t>ACL </a:t>
            </a:r>
            <a:r>
              <a:rPr lang="ru-RU" dirty="0"/>
              <a:t>можно тонко настроить права доступа и фильтрацию трафика в сети.</a:t>
            </a:r>
          </a:p>
        </p:txBody>
      </p:sp>
    </p:spTree>
    <p:extLst>
      <p:ext uri="{BB962C8B-B14F-4D97-AF65-F5344CB8AC3E}">
        <p14:creationId xmlns:p14="http://schemas.microsoft.com/office/powerpoint/2010/main" val="3986642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1C729-7EED-DF85-37B0-15C08831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</a:t>
            </a:r>
            <a:r>
              <a:rPr lang="ru-RU" dirty="0"/>
              <a:t>(</a:t>
            </a:r>
            <a:r>
              <a:rPr lang="en-US" dirty="0"/>
              <a:t>Static)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A86E1-72A4-F6F4-8682-58844321AC7C}"/>
              </a:ext>
            </a:extLst>
          </p:cNvPr>
          <p:cNvSpPr txBox="1"/>
          <p:nvPr/>
        </p:nvSpPr>
        <p:spPr>
          <a:xfrm>
            <a:off x="601450" y="963299"/>
            <a:ext cx="79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r>
              <a:rPr lang="ru-RU" dirty="0"/>
              <a:t>С помощью </a:t>
            </a:r>
            <a:r>
              <a:rPr lang="ru-RU" dirty="0" err="1"/>
              <a:t>натирования</a:t>
            </a:r>
            <a:r>
              <a:rPr lang="ru-RU" dirty="0"/>
              <a:t> мы получаем взаимодействие нашей сети с другими сетями</a:t>
            </a:r>
            <a:r>
              <a:rPr lang="en-US" dirty="0"/>
              <a:t> </a:t>
            </a:r>
            <a:r>
              <a:rPr lang="ru-RU" dirty="0"/>
              <a:t>посредством преобразования локальных </a:t>
            </a:r>
            <a:r>
              <a:rPr lang="en-US" dirty="0"/>
              <a:t>IP-</a:t>
            </a:r>
            <a:r>
              <a:rPr lang="ru-RU" dirty="0"/>
              <a:t>адресов в глобальные.</a:t>
            </a:r>
          </a:p>
          <a:p>
            <a:endParaRPr lang="ru-RU" dirty="0"/>
          </a:p>
          <a:p>
            <a:r>
              <a:rPr lang="ru-RU" dirty="0"/>
              <a:t>Существует несколько видов </a:t>
            </a:r>
            <a:r>
              <a:rPr lang="en-US" dirty="0"/>
              <a:t>NAT</a:t>
            </a:r>
            <a:r>
              <a:rPr lang="ru-RU" dirty="0"/>
              <a:t>, но в нашей сетке используется только статика на маршрутизаторе к провайдеру.</a:t>
            </a:r>
          </a:p>
          <a:p>
            <a:endParaRPr lang="ru-RU" dirty="0"/>
          </a:p>
          <a:p>
            <a:r>
              <a:rPr lang="ru-RU" dirty="0"/>
              <a:t>Маршрутизатор присваивает заранее прописанный </a:t>
            </a:r>
            <a:r>
              <a:rPr lang="en-US" dirty="0"/>
              <a:t>IP-</a:t>
            </a:r>
            <a:r>
              <a:rPr lang="ru-RU" dirty="0"/>
              <a:t>адрес каждому соответствующему устройству.</a:t>
            </a:r>
          </a:p>
          <a:p>
            <a:endParaRPr lang="ru-RU" dirty="0"/>
          </a:p>
          <a:p>
            <a:r>
              <a:rPr lang="ru-RU" dirty="0"/>
              <a:t>В нашем случае технология присваивает статические адреса серверам, так как именно серверам чаще нужны такие адреса.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* Другие виды </a:t>
            </a:r>
            <a:r>
              <a:rPr lang="en-US" dirty="0"/>
              <a:t>NAT </a:t>
            </a:r>
            <a:r>
              <a:rPr lang="ru-RU" dirty="0"/>
              <a:t>не удалось настроить в </a:t>
            </a:r>
            <a:r>
              <a:rPr lang="en-US" dirty="0"/>
              <a:t>Packet Tracer </a:t>
            </a:r>
            <a:r>
              <a:rPr lang="ru-RU" dirty="0"/>
              <a:t>через </a:t>
            </a:r>
            <a:r>
              <a:rPr lang="en-US" dirty="0"/>
              <a:t>Loopback </a:t>
            </a:r>
            <a:r>
              <a:rPr lang="ru-RU" dirty="0"/>
              <a:t>маршрутизатора. Изучим этот момент в </a:t>
            </a:r>
            <a:r>
              <a:rPr lang="en-US" dirty="0"/>
              <a:t>EVE-NG </a:t>
            </a:r>
            <a:r>
              <a:rPr lang="ru-RU" dirty="0"/>
              <a:t>на </a:t>
            </a:r>
            <a:r>
              <a:rPr lang="ru-RU" dirty="0" err="1"/>
              <a:t>проф.курсе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260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E7059-3D43-3BCC-AD08-87F823BC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1B056D-7780-FCA9-44DD-FC849A12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8" y="878675"/>
            <a:ext cx="3866654" cy="4064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C28BB4-64DC-BB74-9EC9-FDCD0F6AB4E2}"/>
              </a:ext>
            </a:extLst>
          </p:cNvPr>
          <p:cNvSpPr txBox="1"/>
          <p:nvPr/>
        </p:nvSpPr>
        <p:spPr>
          <a:xfrm>
            <a:off x="4395966" y="878675"/>
            <a:ext cx="43372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NTP –</a:t>
            </a:r>
            <a:r>
              <a:rPr lang="ru-RU" dirty="0"/>
              <a:t> протокол для синхронизации внутренних часов устройств сети. Устройства синхронизируются от главного к наименее важным.</a:t>
            </a:r>
          </a:p>
          <a:p>
            <a:endParaRPr lang="ru-RU" dirty="0"/>
          </a:p>
          <a:p>
            <a:r>
              <a:rPr lang="ru-RU" dirty="0"/>
              <a:t>Протокол обеспечивает корректный анализ ошибок и работу различных служб и систем, зависимых от времени.</a:t>
            </a:r>
          </a:p>
          <a:p>
            <a:endParaRPr lang="ru-RU" dirty="0"/>
          </a:p>
          <a:p>
            <a:r>
              <a:rPr lang="ru-RU" dirty="0"/>
              <a:t>В нашей сети </a:t>
            </a:r>
            <a:r>
              <a:rPr lang="en-US" dirty="0"/>
              <a:t>L3-</a:t>
            </a:r>
            <a:r>
              <a:rPr lang="ru-RU" dirty="0"/>
              <a:t>коммутаторы синхронизируются от роутера, а коммутаторы доступа – от старших собратьев.</a:t>
            </a:r>
          </a:p>
          <a:p>
            <a:endParaRPr lang="ru-RU" dirty="0"/>
          </a:p>
          <a:p>
            <a:r>
              <a:rPr lang="ru-RU" dirty="0"/>
              <a:t>На фото видно, как коммутатор доступа группы серверов </a:t>
            </a:r>
            <a:r>
              <a:rPr lang="en-US" dirty="0"/>
              <a:t>(SERVERS) </a:t>
            </a:r>
            <a:r>
              <a:rPr lang="ru-RU" dirty="0"/>
              <a:t>синхронизирует время от </a:t>
            </a:r>
            <a:r>
              <a:rPr lang="en-US" dirty="0"/>
              <a:t>L3-</a:t>
            </a:r>
            <a:r>
              <a:rPr lang="ru-RU" dirty="0"/>
              <a:t>коммутатора </a:t>
            </a:r>
            <a:r>
              <a:rPr lang="en-US" dirty="0"/>
              <a:t>MASTER_SWITCH2 (192.168.0.131).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157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4071794921"/>
              </p:ext>
            </p:extLst>
          </p:nvPr>
        </p:nvGraphicFramePr>
        <p:xfrm>
          <a:off x="952500" y="1718400"/>
          <a:ext cx="7239000" cy="2617096"/>
        </p:xfrm>
        <a:graphic>
          <a:graphicData uri="http://schemas.openxmlformats.org/drawingml/2006/table">
            <a:tbl>
              <a:tblPr>
                <a:noFill/>
                <a:tableStyleId>{E0CE42F4-68CF-497D-BE74-4D2CB4DE5E68}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Все поставленные задачи выполнены, хоть и не без труда.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занял от 8 до 10 дней.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Оцениваю проект на твердые 10 баллов, после работы по методичкам в домашних заданиях – настоящий вызов.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Далее планирую учиться на курсе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Engineer Professional.</a:t>
                      </a:r>
                      <a:endParaRPr lang="ru-RU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861</Words>
  <Application>Microsoft Office PowerPoint</Application>
  <PresentationFormat>Экран (16:9)</PresentationFormat>
  <Paragraphs>181</Paragraphs>
  <Slides>21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Roboto Medium</vt:lpstr>
      <vt:lpstr>Roboto</vt:lpstr>
      <vt:lpstr>Courier New</vt:lpstr>
      <vt:lpstr>Arial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Организация сети юридического лица.   </vt:lpstr>
      <vt:lpstr>План защиты</vt:lpstr>
      <vt:lpstr>Презентация PowerPoint</vt:lpstr>
      <vt:lpstr>    Какие технологии использовались </vt:lpstr>
      <vt:lpstr>Топология сети</vt:lpstr>
      <vt:lpstr>Адресация</vt:lpstr>
      <vt:lpstr>SSH</vt:lpstr>
      <vt:lpstr>VLAN</vt:lpstr>
      <vt:lpstr>STP</vt:lpstr>
      <vt:lpstr>LACP</vt:lpstr>
      <vt:lpstr>DHCP</vt:lpstr>
      <vt:lpstr>Port-Security</vt:lpstr>
      <vt:lpstr>OSPF</vt:lpstr>
      <vt:lpstr>ACL</vt:lpstr>
      <vt:lpstr>NAT(Static)</vt:lpstr>
      <vt:lpstr>NTP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Az</dc:creator>
  <cp:lastModifiedBy>Артем Петров</cp:lastModifiedBy>
  <cp:revision>1</cp:revision>
  <dcterms:modified xsi:type="dcterms:W3CDTF">2026-05-28T09:56:05Z</dcterms:modified>
</cp:coreProperties>
</file>